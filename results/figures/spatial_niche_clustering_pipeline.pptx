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Túrós et al. Nature Communications (2026). https://doi.org/10.1038/s41467-026-74125-6</a:t>
            </a:r>
          </a:p>
          <a:p>
            <a:r>
              <a:t>Zenodo record 15102983. https://doi.org/10.5281/zenodo.15102983</a:t>
            </a:r>
          </a:p>
          <a:p>
            <a:r>
              <a:t>Local analysis: results/tables/model_summary.json; patterns.csv; niche_annotations.csv; model_diagnostics.csv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0F0746E-A204-4964-87B1-3A5E26E5BE8E}"/>
              </a:ext>
            </a:extLst>
          </p:cNvPr>
          <p:cNvSpPr>
            <a:spLocks noGrp="1"/>
          </p:cNvSpPr>
          <p:nvPr/>
        </p:nvSpPr>
        <p:spPr>
          <a:xfrm>
            <a:off x="457200" y="209550"/>
            <a:ext cx="1127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63" b="1">
                <a:solidFill>
                  <a:srgbClr val="2C2733"/>
                </a:solidFill>
              </a:defRPr>
            </a:pPr>
            <a:r>
              <a:rPr sz="1163" b="1" dirty="0">
                <a:solidFill>
                  <a:srgbClr val="2C27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Mouse BRCA1-deficient mammary </a:t>
            </a:r>
            <a:r>
              <a:rPr sz="1163" b="1" dirty="0" err="1">
                <a:solidFill>
                  <a:srgbClr val="2C27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tumours</a:t>
            </a:r>
            <a:r>
              <a:rPr sz="1163" b="1" dirty="0">
                <a:solidFill>
                  <a:srgbClr val="2C27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r>
              <a:rPr sz="1163" b="1" dirty="0" err="1">
                <a:solidFill>
                  <a:srgbClr val="2C27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Túrós</a:t>
            </a:r>
            <a:r>
              <a:rPr sz="1163" b="1" dirty="0">
                <a:solidFill>
                  <a:srgbClr val="2C27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Nature Communications 2026 | 10.1038/s41467-026-74125-6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BD230-F0B6-4A83-B65F-9FF7182E7ECC}"/>
              </a:ext>
            </a:extLst>
          </p:cNvPr>
          <p:cNvSpPr>
            <a:spLocks noGrp="1"/>
          </p:cNvSpPr>
          <p:nvPr/>
        </p:nvSpPr>
        <p:spPr>
          <a:xfrm>
            <a:off x="857250" y="430911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i="1">
                <a:solidFill>
                  <a:srgbClr val="5E5668"/>
                </a:solidFill>
              </a:defRPr>
            </a:pPr>
            <a:r>
              <a:rPr sz="1125" i="1" dirty="0">
                <a:solidFill>
                  <a:srgbClr val="5E56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unsupervised learning recover a biologically interpretable response to chemotherapy?</a:t>
            </a:r>
          </a:p>
        </p:txBody>
      </p:sp>
      <p:sp>
        <p:nvSpPr>
          <p:cNvPr id="3" name="step-1-card">
            <a:extLst>
              <a:ext uri="{FF2B5EF4-FFF2-40B4-BE49-F238E27FC236}">
                <a16:creationId xmlns:a16="http://schemas.microsoft.com/office/drawing/2014/main" id="{AB547728-522E-4392-998F-A7EDE68AFCD4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3333750" cy="1504950"/>
          </a:xfrm>
          <a:prstGeom prst="roundRect">
            <a:avLst>
              <a:gd name="adj" fmla="val 506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tep-1-number">
            <a:extLst>
              <a:ext uri="{FF2B5EF4-FFF2-40B4-BE49-F238E27FC236}">
                <a16:creationId xmlns:a16="http://schemas.microsoft.com/office/drawing/2014/main" id="{D323B1D5-8CFD-4107-8A79-336F964B3939}"/>
              </a:ext>
            </a:extLst>
          </p:cNvPr>
          <p:cNvSpPr>
            <a:spLocks noGrp="1"/>
          </p:cNvSpPr>
          <p:nvPr/>
        </p:nvSpPr>
        <p:spPr>
          <a:xfrm>
            <a:off x="523875" y="102870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43F8D-05BA-44A7-A372-E13CA7D67F1D}"/>
              </a:ext>
            </a:extLst>
          </p:cNvPr>
          <p:cNvSpPr>
            <a:spLocks noGrp="1"/>
          </p:cNvSpPr>
          <p:nvPr/>
        </p:nvSpPr>
        <p:spPr>
          <a:xfrm>
            <a:off x="876300" y="10287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20D3E2-8F81-4B18-A8A4-9783D53B6BA6}"/>
              </a:ext>
            </a:extLst>
          </p:cNvPr>
          <p:cNvSpPr>
            <a:spLocks noGrp="1"/>
          </p:cNvSpPr>
          <p:nvPr/>
        </p:nvSpPr>
        <p:spPr>
          <a:xfrm>
            <a:off x="561975" y="1316736"/>
            <a:ext cx="3009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Zenodo</a:t>
            </a: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15102983 processed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Visium</a:t>
            </a:r>
            <a:endParaRPr sz="1088" dirty="0">
              <a:solidFill>
                <a:srgbClr val="3732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Cisplatin arm; parental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2.1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27,931 spots | 13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tumours</a:t>
            </a:r>
            <a:endParaRPr sz="1088" dirty="0">
              <a:solidFill>
                <a:srgbClr val="3732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Primary, MRD7, MRD12, recurrence</a:t>
            </a:r>
          </a:p>
        </p:txBody>
      </p:sp>
      <p:sp>
        <p:nvSpPr>
          <p:cNvPr id="7" name="step-1-output">
            <a:extLst>
              <a:ext uri="{FF2B5EF4-FFF2-40B4-BE49-F238E27FC236}">
                <a16:creationId xmlns:a16="http://schemas.microsoft.com/office/drawing/2014/main" id="{97ABD89D-A538-4BF1-A6B9-C5704E0A0855}"/>
              </a:ext>
            </a:extLst>
          </p:cNvPr>
          <p:cNvSpPr>
            <a:spLocks noGrp="1"/>
          </p:cNvSpPr>
          <p:nvPr/>
        </p:nvSpPr>
        <p:spPr>
          <a:xfrm>
            <a:off x="523875" y="2124075"/>
            <a:ext cx="3086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curated spatial sections</a:t>
            </a:r>
          </a:p>
        </p:txBody>
      </p:sp>
      <p:sp>
        <p:nvSpPr>
          <p:cNvPr id="8" name="step-2-card">
            <a:extLst>
              <a:ext uri="{FF2B5EF4-FFF2-40B4-BE49-F238E27FC236}">
                <a16:creationId xmlns:a16="http://schemas.microsoft.com/office/drawing/2014/main" id="{B77A31BF-5F0F-4C32-A3A4-ABD8F1FCD69A}"/>
              </a:ext>
            </a:extLst>
          </p:cNvPr>
          <p:cNvSpPr>
            <a:spLocks noGrp="1"/>
          </p:cNvSpPr>
          <p:nvPr/>
        </p:nvSpPr>
        <p:spPr>
          <a:xfrm>
            <a:off x="4429125" y="914400"/>
            <a:ext cx="3333750" cy="1504950"/>
          </a:xfrm>
          <a:prstGeom prst="roundRect">
            <a:avLst>
              <a:gd name="adj" fmla="val 506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tep-2-number">
            <a:extLst>
              <a:ext uri="{FF2B5EF4-FFF2-40B4-BE49-F238E27FC236}">
                <a16:creationId xmlns:a16="http://schemas.microsoft.com/office/drawing/2014/main" id="{73A80334-4BF5-4DBC-B72E-72483AB747E2}"/>
              </a:ext>
            </a:extLst>
          </p:cNvPr>
          <p:cNvSpPr>
            <a:spLocks noGrp="1"/>
          </p:cNvSpPr>
          <p:nvPr/>
        </p:nvSpPr>
        <p:spPr>
          <a:xfrm>
            <a:off x="4552950" y="102870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7E63B-26C3-4CA8-8EF7-B3BA9492FCB2}"/>
              </a:ext>
            </a:extLst>
          </p:cNvPr>
          <p:cNvSpPr>
            <a:spLocks noGrp="1"/>
          </p:cNvSpPr>
          <p:nvPr/>
        </p:nvSpPr>
        <p:spPr>
          <a:xfrm>
            <a:off x="4905374" y="1028700"/>
            <a:ext cx="30860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 dirty="0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niche representation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91BAB0-5C50-4E2D-B0FE-F9669CF977B2}"/>
              </a:ext>
            </a:extLst>
          </p:cNvPr>
          <p:cNvSpPr>
            <a:spLocks noGrp="1"/>
          </p:cNvSpPr>
          <p:nvPr/>
        </p:nvSpPr>
        <p:spPr>
          <a:xfrm>
            <a:off x="4591050" y="1325880"/>
            <a:ext cx="3009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Chrysalis archetypal weights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fr-FR"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candidates</a:t>
            </a: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compartments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N3 and N6 excluded as likely artefacts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weights kept for analysis</a:t>
            </a:r>
          </a:p>
        </p:txBody>
      </p:sp>
      <p:sp>
        <p:nvSpPr>
          <p:cNvPr id="12" name="step-2-output">
            <a:extLst>
              <a:ext uri="{FF2B5EF4-FFF2-40B4-BE49-F238E27FC236}">
                <a16:creationId xmlns:a16="http://schemas.microsoft.com/office/drawing/2014/main" id="{3CC5B2C4-DE09-47CA-83B5-46939A168648}"/>
              </a:ext>
            </a:extLst>
          </p:cNvPr>
          <p:cNvSpPr>
            <a:spLocks noGrp="1"/>
          </p:cNvSpPr>
          <p:nvPr/>
        </p:nvSpPr>
        <p:spPr>
          <a:xfrm>
            <a:off x="4552950" y="2124075"/>
            <a:ext cx="3086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11 biological niches</a:t>
            </a:r>
          </a:p>
        </p:txBody>
      </p:sp>
      <p:sp>
        <p:nvSpPr>
          <p:cNvPr id="13" name="step-3-card">
            <a:extLst>
              <a:ext uri="{FF2B5EF4-FFF2-40B4-BE49-F238E27FC236}">
                <a16:creationId xmlns:a16="http://schemas.microsoft.com/office/drawing/2014/main" id="{F40E57F1-9E0E-4D75-A7CB-4C03A0C1AECC}"/>
              </a:ext>
            </a:extLst>
          </p:cNvPr>
          <p:cNvSpPr>
            <a:spLocks noGrp="1"/>
          </p:cNvSpPr>
          <p:nvPr/>
        </p:nvSpPr>
        <p:spPr>
          <a:xfrm>
            <a:off x="8458200" y="914400"/>
            <a:ext cx="3333750" cy="1504950"/>
          </a:xfrm>
          <a:prstGeom prst="roundRect">
            <a:avLst>
              <a:gd name="adj" fmla="val 506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tep-3-number">
            <a:extLst>
              <a:ext uri="{FF2B5EF4-FFF2-40B4-BE49-F238E27FC236}">
                <a16:creationId xmlns:a16="http://schemas.microsoft.com/office/drawing/2014/main" id="{5649F01A-AD0C-44D8-B554-5E7EB61BF711}"/>
              </a:ext>
            </a:extLst>
          </p:cNvPr>
          <p:cNvSpPr>
            <a:spLocks noGrp="1"/>
          </p:cNvSpPr>
          <p:nvPr/>
        </p:nvSpPr>
        <p:spPr>
          <a:xfrm>
            <a:off x="8582025" y="102870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A58A1F-E291-481E-B164-2D29E399DACE}"/>
              </a:ext>
            </a:extLst>
          </p:cNvPr>
          <p:cNvSpPr>
            <a:spLocks noGrp="1"/>
          </p:cNvSpPr>
          <p:nvPr/>
        </p:nvSpPr>
        <p:spPr>
          <a:xfrm>
            <a:off x="8934450" y="10287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Tumour-level profiles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08198D-D50E-4A24-979B-57774A64556A}"/>
              </a:ext>
            </a:extLst>
          </p:cNvPr>
          <p:cNvSpPr>
            <a:spLocks noGrp="1"/>
          </p:cNvSpPr>
          <p:nvPr/>
        </p:nvSpPr>
        <p:spPr>
          <a:xfrm>
            <a:off x="8620125" y="1335024"/>
            <a:ext cx="3009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one biological replicate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niche-weighted averages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 (CLR) + 7 molecular features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spot-level pseudo-replication</a:t>
            </a:r>
          </a:p>
        </p:txBody>
      </p:sp>
      <p:sp>
        <p:nvSpPr>
          <p:cNvPr id="17" name="step-3-output">
            <a:extLst>
              <a:ext uri="{FF2B5EF4-FFF2-40B4-BE49-F238E27FC236}">
                <a16:creationId xmlns:a16="http://schemas.microsoft.com/office/drawing/2014/main" id="{F0A8F991-76DA-4C36-AB15-29AD57BC4A47}"/>
              </a:ext>
            </a:extLst>
          </p:cNvPr>
          <p:cNvSpPr>
            <a:spLocks noGrp="1"/>
          </p:cNvSpPr>
          <p:nvPr/>
        </p:nvSpPr>
        <p:spPr>
          <a:xfrm>
            <a:off x="8582025" y="2124075"/>
            <a:ext cx="3086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143 tumour × niche profiles</a:t>
            </a:r>
          </a:p>
        </p:txBody>
      </p:sp>
      <p:sp>
        <p:nvSpPr>
          <p:cNvPr id="18" name="step-4-card">
            <a:extLst>
              <a:ext uri="{FF2B5EF4-FFF2-40B4-BE49-F238E27FC236}">
                <a16:creationId xmlns:a16="http://schemas.microsoft.com/office/drawing/2014/main" id="{59F181A4-DD9B-437D-816B-7730507BC014}"/>
              </a:ext>
            </a:extLst>
          </p:cNvPr>
          <p:cNvSpPr>
            <a:spLocks noGrp="1"/>
          </p:cNvSpPr>
          <p:nvPr/>
        </p:nvSpPr>
        <p:spPr>
          <a:xfrm>
            <a:off x="7067550" y="2800350"/>
            <a:ext cx="3714750" cy="1447800"/>
          </a:xfrm>
          <a:prstGeom prst="roundRect">
            <a:avLst>
              <a:gd name="adj" fmla="val 526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tep-4-number">
            <a:extLst>
              <a:ext uri="{FF2B5EF4-FFF2-40B4-BE49-F238E27FC236}">
                <a16:creationId xmlns:a16="http://schemas.microsoft.com/office/drawing/2014/main" id="{ED3051C0-A051-4688-83FB-43D41424C75C}"/>
              </a:ext>
            </a:extLst>
          </p:cNvPr>
          <p:cNvSpPr>
            <a:spLocks noGrp="1"/>
          </p:cNvSpPr>
          <p:nvPr/>
        </p:nvSpPr>
        <p:spPr>
          <a:xfrm>
            <a:off x="7191375" y="291465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3E303A-88B5-4A0F-A7D4-D5404FA39418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3105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perturbations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B28CA5-C1E2-4084-89EA-5C1F1FB5E894}"/>
              </a:ext>
            </a:extLst>
          </p:cNvPr>
          <p:cNvSpPr>
            <a:spLocks noGrp="1"/>
          </p:cNvSpPr>
          <p:nvPr/>
        </p:nvSpPr>
        <p:spPr>
          <a:xfrm>
            <a:off x="7229475" y="3193542"/>
            <a:ext cx="339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Treated − same-batch primary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MRD7, MRD12 and recurrence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standardised</a:t>
            </a: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stage–feature contrasts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response trajectory per niche</a:t>
            </a:r>
          </a:p>
        </p:txBody>
      </p:sp>
      <p:sp>
        <p:nvSpPr>
          <p:cNvPr id="22" name="step-4-output">
            <a:extLst>
              <a:ext uri="{FF2B5EF4-FFF2-40B4-BE49-F238E27FC236}">
                <a16:creationId xmlns:a16="http://schemas.microsoft.com/office/drawing/2014/main" id="{4E1DEE9A-5CC9-4480-8947-D993726DF0A0}"/>
              </a:ext>
            </a:extLst>
          </p:cNvPr>
          <p:cNvSpPr>
            <a:spLocks noGrp="1"/>
          </p:cNvSpPr>
          <p:nvPr/>
        </p:nvSpPr>
        <p:spPr>
          <a:xfrm>
            <a:off x="7191375" y="3952875"/>
            <a:ext cx="3467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11 × 24 perturbation matrix</a:t>
            </a:r>
          </a:p>
        </p:txBody>
      </p:sp>
      <p:sp>
        <p:nvSpPr>
          <p:cNvPr id="23" name="step-5-card">
            <a:extLst>
              <a:ext uri="{FF2B5EF4-FFF2-40B4-BE49-F238E27FC236}">
                <a16:creationId xmlns:a16="http://schemas.microsoft.com/office/drawing/2014/main" id="{A03A15B2-21BD-4722-9302-3DC69D10906F}"/>
              </a:ext>
            </a:extLst>
          </p:cNvPr>
          <p:cNvSpPr>
            <a:spLocks noGrp="1"/>
          </p:cNvSpPr>
          <p:nvPr/>
        </p:nvSpPr>
        <p:spPr>
          <a:xfrm>
            <a:off x="1409700" y="2800350"/>
            <a:ext cx="3714750" cy="1447800"/>
          </a:xfrm>
          <a:prstGeom prst="roundRect">
            <a:avLst>
              <a:gd name="adj" fmla="val 5263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tep-5-number">
            <a:extLst>
              <a:ext uri="{FF2B5EF4-FFF2-40B4-BE49-F238E27FC236}">
                <a16:creationId xmlns:a16="http://schemas.microsoft.com/office/drawing/2014/main" id="{E9D727A6-72C9-4AEF-B20B-E0E020BE0DD1}"/>
              </a:ext>
            </a:extLst>
          </p:cNvPr>
          <p:cNvSpPr>
            <a:spLocks noGrp="1"/>
          </p:cNvSpPr>
          <p:nvPr/>
        </p:nvSpPr>
        <p:spPr>
          <a:xfrm>
            <a:off x="1533525" y="291465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CECB84-9B88-4C89-BE1F-3F3EE6B7EE13}"/>
              </a:ext>
            </a:extLst>
          </p:cNvPr>
          <p:cNvSpPr>
            <a:spLocks noGrp="1"/>
          </p:cNvSpPr>
          <p:nvPr/>
        </p:nvSpPr>
        <p:spPr>
          <a:xfrm>
            <a:off x="1885950" y="2914650"/>
            <a:ext cx="3105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Unsupervised 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3896D3-5623-4CA5-92B0-F9F5A766FA40}"/>
              </a:ext>
            </a:extLst>
          </p:cNvPr>
          <p:cNvSpPr>
            <a:spLocks noGrp="1"/>
          </p:cNvSpPr>
          <p:nvPr/>
        </p:nvSpPr>
        <p:spPr>
          <a:xfrm>
            <a:off x="1571625" y="3211830"/>
            <a:ext cx="3390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PCA for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endParaRPr sz="1088" dirty="0">
              <a:solidFill>
                <a:srgbClr val="3732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Ward hierarchical consensus clustering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 k = 2–6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Silhouette + cluster-size constraints</a:t>
            </a:r>
          </a:p>
        </p:txBody>
      </p:sp>
      <p:sp>
        <p:nvSpPr>
          <p:cNvPr id="27" name="step-5-output">
            <a:extLst>
              <a:ext uri="{FF2B5EF4-FFF2-40B4-BE49-F238E27FC236}">
                <a16:creationId xmlns:a16="http://schemas.microsoft.com/office/drawing/2014/main" id="{3FA2B2AA-A3EB-40AD-827A-321D59D403B0}"/>
              </a:ext>
            </a:extLst>
          </p:cNvPr>
          <p:cNvSpPr>
            <a:spLocks noGrp="1"/>
          </p:cNvSpPr>
          <p:nvPr/>
        </p:nvSpPr>
        <p:spPr>
          <a:xfrm>
            <a:off x="1533525" y="3952875"/>
            <a:ext cx="3467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Selected: k = 2 biological macro-patterns</a:t>
            </a:r>
          </a:p>
        </p:txBody>
      </p:sp>
      <p:sp>
        <p:nvSpPr>
          <p:cNvPr id="28" name="step-6-card">
            <a:extLst>
              <a:ext uri="{FF2B5EF4-FFF2-40B4-BE49-F238E27FC236}">
                <a16:creationId xmlns:a16="http://schemas.microsoft.com/office/drawing/2014/main" id="{A4158109-6517-42A7-9DF6-430728E555A7}"/>
              </a:ext>
            </a:extLst>
          </p:cNvPr>
          <p:cNvSpPr>
            <a:spLocks noGrp="1"/>
          </p:cNvSpPr>
          <p:nvPr/>
        </p:nvSpPr>
        <p:spPr>
          <a:xfrm>
            <a:off x="1409700" y="4705350"/>
            <a:ext cx="4476750" cy="1657350"/>
          </a:xfrm>
          <a:prstGeom prst="roundRect">
            <a:avLst>
              <a:gd name="adj" fmla="val 4598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tep-6-number">
            <a:extLst>
              <a:ext uri="{FF2B5EF4-FFF2-40B4-BE49-F238E27FC236}">
                <a16:creationId xmlns:a16="http://schemas.microsoft.com/office/drawing/2014/main" id="{E55C8532-5A11-4BC2-B89C-429CA3A2E598}"/>
              </a:ext>
            </a:extLst>
          </p:cNvPr>
          <p:cNvSpPr>
            <a:spLocks noGrp="1"/>
          </p:cNvSpPr>
          <p:nvPr/>
        </p:nvSpPr>
        <p:spPr>
          <a:xfrm>
            <a:off x="1533525" y="481965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7C9EA4-665D-47B3-B299-6582BCD4DF90}"/>
              </a:ext>
            </a:extLst>
          </p:cNvPr>
          <p:cNvSpPr>
            <a:spLocks noGrp="1"/>
          </p:cNvSpPr>
          <p:nvPr/>
        </p:nvSpPr>
        <p:spPr>
          <a:xfrm>
            <a:off x="1885950" y="4819650"/>
            <a:ext cx="386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Consensus and validation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43BD8F-13D7-43AA-A740-354D044CF45B}"/>
              </a:ext>
            </a:extLst>
          </p:cNvPr>
          <p:cNvSpPr>
            <a:spLocks noGrp="1"/>
          </p:cNvSpPr>
          <p:nvPr/>
        </p:nvSpPr>
        <p:spPr>
          <a:xfrm>
            <a:off x="1571625" y="5162550"/>
            <a:ext cx="4152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1,000 bootstrap refits; 70% feature-family dropout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Leave-one-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tumour</a:t>
            </a: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/feature-out ARI = 1.00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 arm agreement: ARI = 1.00</a:t>
            </a: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cross-arm Spearman = 0.814</a:t>
            </a:r>
          </a:p>
        </p:txBody>
      </p:sp>
      <p:sp>
        <p:nvSpPr>
          <p:cNvPr id="32" name="step-6-output">
            <a:extLst>
              <a:ext uri="{FF2B5EF4-FFF2-40B4-BE49-F238E27FC236}">
                <a16:creationId xmlns:a16="http://schemas.microsoft.com/office/drawing/2014/main" id="{7EEC66D5-EA9A-4AB7-AD4C-2E9B393BFD1B}"/>
              </a:ext>
            </a:extLst>
          </p:cNvPr>
          <p:cNvSpPr>
            <a:spLocks noGrp="1"/>
          </p:cNvSpPr>
          <p:nvPr/>
        </p:nvSpPr>
        <p:spPr>
          <a:xfrm>
            <a:off x="1533525" y="6067425"/>
            <a:ext cx="4229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Silhouette = 0.439 | permutation p = 0.0002</a:t>
            </a:r>
          </a:p>
        </p:txBody>
      </p:sp>
      <p:sp>
        <p:nvSpPr>
          <p:cNvPr id="33" name="step-7-card">
            <a:extLst>
              <a:ext uri="{FF2B5EF4-FFF2-40B4-BE49-F238E27FC236}">
                <a16:creationId xmlns:a16="http://schemas.microsoft.com/office/drawing/2014/main" id="{DEE6329D-0B19-4518-A8AE-AA7FDCCFD6FA}"/>
              </a:ext>
            </a:extLst>
          </p:cNvPr>
          <p:cNvSpPr>
            <a:spLocks noGrp="1"/>
          </p:cNvSpPr>
          <p:nvPr/>
        </p:nvSpPr>
        <p:spPr>
          <a:xfrm>
            <a:off x="6305550" y="4705350"/>
            <a:ext cx="4476750" cy="1657350"/>
          </a:xfrm>
          <a:prstGeom prst="roundRect">
            <a:avLst>
              <a:gd name="adj" fmla="val 4598"/>
            </a:avLst>
          </a:prstGeom>
          <a:solidFill>
            <a:schemeClr val="accent2">
              <a:lumMod val="20000"/>
              <a:lumOff val="80000"/>
            </a:schemeClr>
          </a:solidFill>
          <a:ln w="13335">
            <a:solidFill>
              <a:srgbClr val="6B5C8E"/>
            </a:solidFill>
            <a:prstDash val="solid"/>
          </a:ln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tep-7-number">
            <a:extLst>
              <a:ext uri="{FF2B5EF4-FFF2-40B4-BE49-F238E27FC236}">
                <a16:creationId xmlns:a16="http://schemas.microsoft.com/office/drawing/2014/main" id="{51B737BF-B9D9-4656-9490-8C68B7AE3E99}"/>
              </a:ext>
            </a:extLst>
          </p:cNvPr>
          <p:cNvSpPr>
            <a:spLocks noGrp="1"/>
          </p:cNvSpPr>
          <p:nvPr/>
        </p:nvSpPr>
        <p:spPr>
          <a:xfrm>
            <a:off x="6429375" y="4819650"/>
            <a:ext cx="266700" cy="266700"/>
          </a:xfrm>
          <a:prstGeom prst="ellipse">
            <a:avLst/>
          </a:prstGeom>
          <a:solidFill>
            <a:srgbClr val="43345F"/>
          </a:solidFill>
          <a:ln w="4763">
            <a:solidFill>
              <a:srgbClr val="43345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C2EB5A-03A3-4967-9A80-78520DE15FAC}"/>
              </a:ext>
            </a:extLst>
          </p:cNvPr>
          <p:cNvSpPr>
            <a:spLocks noGrp="1"/>
          </p:cNvSpPr>
          <p:nvPr/>
        </p:nvSpPr>
        <p:spPr>
          <a:xfrm>
            <a:off x="6781800" y="4819650"/>
            <a:ext cx="386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92333"/>
                </a:solidFill>
              </a:defRPr>
            </a:pPr>
            <a:r>
              <a:rPr sz="1350" b="1">
                <a:solidFill>
                  <a:srgbClr val="292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Biological annotation and readout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CB33F4-022F-4552-A749-853501690DB1}"/>
              </a:ext>
            </a:extLst>
          </p:cNvPr>
          <p:cNvSpPr>
            <a:spLocks noGrp="1"/>
          </p:cNvSpPr>
          <p:nvPr/>
        </p:nvSpPr>
        <p:spPr>
          <a:xfrm>
            <a:off x="6467475" y="5116830"/>
            <a:ext cx="4152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cell types + gene </a:t>
            </a:r>
            <a:r>
              <a:rPr sz="1088" dirty="0" err="1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endParaRPr sz="1088" dirty="0">
              <a:solidFill>
                <a:srgbClr val="3732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defRPr sz="1088">
                <a:solidFill>
                  <a:srgbClr val="37323E"/>
                </a:solidFill>
              </a:defRPr>
            </a:pPr>
            <a:r>
              <a:rPr sz="1088" dirty="0">
                <a:solidFill>
                  <a:srgbClr val="3732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Histology + temporal response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D3A454-CB77-4F05-AED9-B84F08C86758}"/>
              </a:ext>
            </a:extLst>
          </p:cNvPr>
          <p:cNvSpPr>
            <a:spLocks noGrp="1"/>
          </p:cNvSpPr>
          <p:nvPr/>
        </p:nvSpPr>
        <p:spPr>
          <a:xfrm>
            <a:off x="6467475" y="5529834"/>
            <a:ext cx="415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13" b="1">
                <a:solidFill>
                  <a:srgbClr val="2166AC"/>
                </a:solidFill>
              </a:defRPr>
            </a:pPr>
            <a:r>
              <a:rPr sz="1013" b="1" dirty="0">
                <a:solidFill>
                  <a:srgbClr val="2166A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MRD immune–stromal: N1, N7, N9, N11, N12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09FF3-AF9D-443E-A4F5-633CD4356AD6}"/>
              </a:ext>
            </a:extLst>
          </p:cNvPr>
          <p:cNvSpPr>
            <a:spLocks noGrp="1"/>
          </p:cNvSpPr>
          <p:nvPr/>
        </p:nvSpPr>
        <p:spPr>
          <a:xfrm>
            <a:off x="6467475" y="5757672"/>
            <a:ext cx="415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13" b="1">
                <a:solidFill>
                  <a:srgbClr val="B2182B"/>
                </a:solidFill>
              </a:defRPr>
            </a:pPr>
            <a:r>
              <a:rPr sz="1013" b="1" dirty="0">
                <a:solidFill>
                  <a:srgbClr val="B218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Primary/recurrent: N0, N2*, N4, N5, N8, N10</a:t>
            </a:r>
          </a:p>
        </p:txBody>
      </p:sp>
      <p:sp>
        <p:nvSpPr>
          <p:cNvPr id="39" name="step-7-output">
            <a:extLst>
              <a:ext uri="{FF2B5EF4-FFF2-40B4-BE49-F238E27FC236}">
                <a16:creationId xmlns:a16="http://schemas.microsoft.com/office/drawing/2014/main" id="{5A4C13F1-0F20-4322-8A42-190A8BF8FC3C}"/>
              </a:ext>
            </a:extLst>
          </p:cNvPr>
          <p:cNvSpPr>
            <a:spLocks noGrp="1"/>
          </p:cNvSpPr>
          <p:nvPr/>
        </p:nvSpPr>
        <p:spPr>
          <a:xfrm>
            <a:off x="6429375" y="6067425"/>
            <a:ext cx="4229100" cy="209550"/>
          </a:xfrm>
          <a:prstGeom prst="roundRect">
            <a:avLst>
              <a:gd name="adj" fmla="val 9091"/>
            </a:avLst>
          </a:prstGeom>
          <a:solidFill>
            <a:srgbClr val="F2D66B"/>
          </a:solidFill>
          <a:ln w="5715">
            <a:solidFill>
              <a:srgbClr val="D5B9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B3421"/>
                </a:solidFill>
              </a:defRPr>
            </a:pPr>
            <a:r>
              <a:rPr sz="938" b="1">
                <a:solidFill>
                  <a:srgbClr val="3B34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N2* = persistent EMT exception | reversible remodelling</a:t>
            </a:r>
          </a:p>
        </p:txBody>
      </p:sp>
      <p:cxnSp>
        <p:nvCxnSpPr>
          <p:cNvPr id="175" name="Straight Arrow Connector 174"/>
          <p:cNvCxnSpPr>
            <a:stCxn id="3" idx="3"/>
            <a:endCxn id="8" idx="1"/>
          </p:cNvCxnSpPr>
          <p:nvPr/>
        </p:nvCxnSpPr>
        <p:spPr>
          <a:xfrm>
            <a:off x="3733800" y="1666875"/>
            <a:ext cx="695325" cy="0"/>
          </a:xfrm>
          <a:prstGeom prst="straightConnector1">
            <a:avLst/>
          </a:prstGeom>
          <a:ln w="76200">
            <a:solidFill>
              <a:srgbClr val="344B7A"/>
            </a:solidFill>
            <a:prstDash val="solid"/>
            <a:tailEnd type="triangle" w="med" len="med"/>
          </a:ln>
        </p:spPr>
      </p:cxnSp>
      <p:cxnSp>
        <p:nvCxnSpPr>
          <p:cNvPr id="176" name="Straight Arrow Connector 175"/>
          <p:cNvCxnSpPr>
            <a:stCxn id="8" idx="3"/>
            <a:endCxn id="13" idx="1"/>
          </p:cNvCxnSpPr>
          <p:nvPr/>
        </p:nvCxnSpPr>
        <p:spPr>
          <a:xfrm>
            <a:off x="7762875" y="1666875"/>
            <a:ext cx="695325" cy="0"/>
          </a:xfrm>
          <a:prstGeom prst="straightConnector1">
            <a:avLst/>
          </a:prstGeom>
          <a:ln w="76200">
            <a:solidFill>
              <a:srgbClr val="344B7A"/>
            </a:solidFill>
            <a:prstDash val="solid"/>
            <a:tailEnd type="triangle" w="med" len="med"/>
          </a:ln>
        </p:spPr>
      </p:cxnSp>
      <p:cxnSp>
        <p:nvCxnSpPr>
          <p:cNvPr id="177" name="Connector: Elbow 176"/>
          <p:cNvCxnSpPr>
            <a:stCxn id="13" idx="2"/>
            <a:endCxn id="18" idx="0"/>
          </p:cNvCxnSpPr>
          <p:nvPr/>
        </p:nvCxnSpPr>
        <p:spPr>
          <a:xfrm flipH="1">
            <a:off x="8924925" y="2419350"/>
            <a:ext cx="1200150" cy="381000"/>
          </a:xfrm>
          <a:prstGeom prst="bentConnector4">
            <a:avLst>
              <a:gd name="adj1" fmla="val 0"/>
              <a:gd name="adj2" fmla="val 50000"/>
            </a:avLst>
          </a:prstGeom>
          <a:ln w="76200">
            <a:solidFill>
              <a:srgbClr val="344B7A"/>
            </a:solidFill>
            <a:prstDash val="solid"/>
            <a:tailEnd type="triangle" w="med" len="med"/>
          </a:ln>
        </p:spPr>
      </p:cxnSp>
      <p:cxnSp>
        <p:nvCxnSpPr>
          <p:cNvPr id="178" name="Straight Arrow Connector 177"/>
          <p:cNvCxnSpPr>
            <a:stCxn id="18" idx="1"/>
            <a:endCxn id="23" idx="3"/>
          </p:cNvCxnSpPr>
          <p:nvPr/>
        </p:nvCxnSpPr>
        <p:spPr>
          <a:xfrm flipH="1">
            <a:off x="5124450" y="3524250"/>
            <a:ext cx="1943100" cy="0"/>
          </a:xfrm>
          <a:prstGeom prst="straightConnector1">
            <a:avLst/>
          </a:prstGeom>
          <a:ln w="76200">
            <a:solidFill>
              <a:srgbClr val="344B7A"/>
            </a:solidFill>
            <a:prstDash val="solid"/>
            <a:tailEnd type="triangle" w="med" len="med"/>
          </a:ln>
        </p:spPr>
      </p:cxnSp>
      <p:cxnSp>
        <p:nvCxnSpPr>
          <p:cNvPr id="179" name="Connector: Elbow 178"/>
          <p:cNvCxnSpPr>
            <a:stCxn id="23" idx="2"/>
            <a:endCxn id="28" idx="0"/>
          </p:cNvCxnSpPr>
          <p:nvPr/>
        </p:nvCxnSpPr>
        <p:spPr>
          <a:xfrm>
            <a:off x="3267075" y="4248150"/>
            <a:ext cx="381000" cy="457200"/>
          </a:xfrm>
          <a:prstGeom prst="bentConnector4">
            <a:avLst>
              <a:gd name="adj1" fmla="val 0"/>
              <a:gd name="adj2" fmla="val 50000"/>
            </a:avLst>
          </a:prstGeom>
          <a:ln w="76200">
            <a:solidFill>
              <a:srgbClr val="344B7A"/>
            </a:solidFill>
            <a:prstDash val="solid"/>
            <a:tailEnd type="triangle" w="med" len="med"/>
          </a:ln>
        </p:spPr>
      </p:cxnSp>
      <p:cxnSp>
        <p:nvCxnSpPr>
          <p:cNvPr id="180" name="Straight Arrow Connector 179"/>
          <p:cNvCxnSpPr>
            <a:stCxn id="28" idx="3"/>
            <a:endCxn id="33" idx="1"/>
          </p:cNvCxnSpPr>
          <p:nvPr/>
        </p:nvCxnSpPr>
        <p:spPr>
          <a:xfrm>
            <a:off x="5886450" y="5534025"/>
            <a:ext cx="419100" cy="0"/>
          </a:xfrm>
          <a:prstGeom prst="straightConnector1">
            <a:avLst/>
          </a:prstGeom>
          <a:ln w="76200">
            <a:solidFill>
              <a:srgbClr val="344B7A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193645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324</Words>
  <Application>Microsoft Office PowerPoint</Application>
  <DocSecurity>0</DocSecurity>
  <PresentationFormat>Widescreen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Youssra Missoum</cp:lastModifiedBy>
  <cp:revision>3</cp:revision>
  <dcterms:created xsi:type="dcterms:W3CDTF">2026-08-17T15:39:12Z</dcterms:created>
  <dcterms:modified xsi:type="dcterms:W3CDTF">2026-08-18T09:41:38Z</dcterms:modified>
</cp:coreProperties>
</file>